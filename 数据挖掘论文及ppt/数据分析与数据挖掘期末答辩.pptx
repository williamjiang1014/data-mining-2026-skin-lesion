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01" d="100"/>
          <a:sy n="101" d="100"/>
        </p:scale>
        <p:origin x="9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0120" y="1005840"/>
            <a:ext cx="9966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25880" y="1536192"/>
            <a:ext cx="9144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1E3A5F"/>
                </a:solidFill>
                <a:latin typeface="微软雅黑"/>
              </a:defRPr>
            </a:pPr>
            <a:r>
              <a:t>多模态皮肤病变风险筛查与公平性评估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697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2A9D8F"/>
                </a:solidFill>
                <a:latin typeface="微软雅黑"/>
              </a:defRPr>
            </a:pPr>
            <a:r>
              <a:t>面向 ISIC 2024 SLICE-3D（3D-TBP 皮肤病变公开数据）的可复现实验设计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290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t>2354100 郝哲逸  ·  2353594 姜政言  ·  2354356 林青滢  ·  2353833 高文昊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9319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48000"/>
              </a:lnSpc>
              <a:spcAft>
                <a:spcPts val="60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  <a:p>
            <a:pPr algn="ctr">
              <a:lnSpc>
                <a:spcPct val="148000"/>
              </a:lnSpc>
              <a:spcAft>
                <a:spcPts val="60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答辩日期：2026.6.17</a:t>
            </a:r>
          </a:p>
          <a:p>
            <a:pPr algn="ctr">
              <a:lnSpc>
                <a:spcPct val="148000"/>
              </a:lnSpc>
              <a:spcAft>
                <a:spcPts val="60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github.com/WilliamJiang1014/data-mining-2026-skin-lesion</a:t>
            </a:r>
          </a:p>
        </p:txBody>
      </p:sp>
      <p:pic>
        <p:nvPicPr>
          <p:cNvPr id="7" name="Picture 6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4" y="54864"/>
            <a:ext cx="2121408" cy="2130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研究方向与研究意义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38404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8000"/>
              </a:lnSpc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多源数据融合风险筛查：图像与临床元数据的联合建模与评估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5661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56616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581912"/>
            <a:ext cx="3273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研究对象与数据基础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965960"/>
            <a:ext cx="3273552" cy="10439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ISIC 2024 SLICE-3D：3D-TBP </a:t>
            </a:r>
            <a:r>
              <a:rPr dirty="0" err="1"/>
              <a:t>病灶图像</a:t>
            </a:r>
            <a:r>
              <a:rPr dirty="0"/>
              <a:t> + </a:t>
            </a:r>
            <a:r>
              <a:rPr dirty="0" err="1"/>
              <a:t>年龄</a:t>
            </a:r>
            <a:r>
              <a:rPr dirty="0"/>
              <a:t>/</a:t>
            </a:r>
            <a:r>
              <a:rPr dirty="0" err="1"/>
              <a:t>性别</a:t>
            </a:r>
            <a:r>
              <a:rPr dirty="0"/>
              <a:t>/</a:t>
            </a:r>
            <a:r>
              <a:rPr dirty="0" err="1"/>
              <a:t>部位元数据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PAD-UFES-20：智能手机临床图像，用于跨域与公平性补充验证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patient-level </a:t>
            </a:r>
            <a:r>
              <a:rPr dirty="0" err="1"/>
              <a:t>划分：同一患者病灶不跨</a:t>
            </a:r>
            <a:r>
              <a:rPr dirty="0"/>
              <a:t> train/test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08760"/>
            <a:ext cx="35661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56616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3984" y="1581912"/>
            <a:ext cx="3273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方法路径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965960"/>
            <a:ext cx="3273552" cy="10439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统一协议比较</a:t>
            </a:r>
            <a:r>
              <a:rPr dirty="0"/>
              <a:t> M0–M4，并引入图结构模型 M5 LGKE-GNN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显式建模</a:t>
            </a:r>
            <a:r>
              <a:rPr dirty="0"/>
              <a:t> </a:t>
            </a:r>
            <a:r>
              <a:rPr dirty="0" err="1"/>
              <a:t>patient、attribute</a:t>
            </a:r>
            <a:r>
              <a:rPr dirty="0"/>
              <a:t> </a:t>
            </a:r>
            <a:r>
              <a:rPr dirty="0" err="1"/>
              <a:t>与</a:t>
            </a:r>
            <a:r>
              <a:rPr dirty="0"/>
              <a:t> visual-neighbor </a:t>
            </a:r>
            <a:r>
              <a:rPr dirty="0" err="1"/>
              <a:t>关系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fold-specific </a:t>
            </a:r>
            <a:r>
              <a:rPr dirty="0" err="1"/>
              <a:t>预处理与构图（按折独立，防泄漏</a:t>
            </a:r>
            <a:r>
              <a:rPr dirty="0"/>
              <a:t>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508760"/>
            <a:ext cx="35661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356616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1581912"/>
            <a:ext cx="3273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研究产出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965960"/>
            <a:ext cx="3273552" cy="10439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恶性风险评分与多指标评估结果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主指标</a:t>
            </a:r>
            <a:r>
              <a:rPr dirty="0"/>
              <a:t> pAUC@TPR≥80%（</a:t>
            </a:r>
            <a:r>
              <a:rPr dirty="0" err="1"/>
              <a:t>高灵敏度区间</a:t>
            </a:r>
            <a:r>
              <a:rPr dirty="0"/>
              <a:t>），</a:t>
            </a:r>
            <a:r>
              <a:rPr dirty="0" err="1"/>
              <a:t>兼顾</a:t>
            </a:r>
            <a:r>
              <a:rPr dirty="0"/>
              <a:t> AUPRC/AUROC/FNR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公平性信号与</a:t>
            </a:r>
            <a:r>
              <a:rPr dirty="0"/>
              <a:t> ISIC→PAD zero-shot / fine-tune </a:t>
            </a:r>
            <a:r>
              <a:rPr dirty="0" err="1"/>
              <a:t>结论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02920" y="4864608"/>
            <a:ext cx="7360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864608"/>
            <a:ext cx="736092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4937760"/>
            <a:ext cx="7068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核心科学问题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5321808"/>
            <a:ext cx="7068312" cy="5552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图结构模型 LGKE-GNN 是否比图像分类或样本级特征拼接更有效支持高灵敏度筛查？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4864608"/>
            <a:ext cx="364845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4864608"/>
            <a:ext cx="3648456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4937760"/>
            <a:ext cx="33558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rPr dirty="0" err="1"/>
              <a:t>研究意义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010144" y="5296916"/>
            <a:ext cx="4222496" cy="60029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sz="1100" dirty="0"/>
              <a:t>• </a:t>
            </a:r>
            <a:r>
              <a:rPr sz="1100" dirty="0" err="1"/>
              <a:t>方法层面：验证图结构多模态融合在筛查任务中的增益</a:t>
            </a:r>
            <a:endParaRPr sz="1100"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sz="1100" dirty="0"/>
              <a:t>• </a:t>
            </a:r>
            <a:r>
              <a:rPr sz="1100" dirty="0" err="1"/>
              <a:t>应用层面：为可复现、可解释与公平性评估提供工程范式</a:t>
            </a:r>
            <a:endParaRPr sz="1100" dirty="0"/>
          </a:p>
        </p:txBody>
      </p:sp>
      <p:pic>
        <p:nvPicPr>
          <p:cNvPr id="25" name="Picture 24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数据与可复现协议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115568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数据集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规模/特点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ISIC 2024 SLICE-3D（3D-TBP 皮肤病变图像+元数据）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官方可用 217,477 样本/634 患者；文献约40万 crop；阳性率约0.14%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主实验、5-fold CV、公平性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PAD-UFES-20（智能手机临床皮肤图像）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2,298 样本/1,373 患者；含 Fitzpatrick 肤色分型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external validation、肤色子群分析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3611880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3611880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3685032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① 患者级划分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4069080"/>
            <a:ext cx="5148072" cy="5552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同一患者病灶不跨 train/val/test，避免身份泄漏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11880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3611880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3685032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② 预处理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4069080"/>
            <a:ext cx="5148072" cy="5552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缺失填补/标准化/词表仅在各折 train 集拟合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73168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773168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4846320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③ 构图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5230368"/>
            <a:ext cx="5148072" cy="5552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同患者/属性/视觉近邻（kNN）边按折独立构建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773168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773168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4846320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④ 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5230368"/>
            <a:ext cx="5148072" cy="5552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validation 集定阈值，test 集仅做最终报告</a:t>
            </a:r>
          </a:p>
        </p:txBody>
      </p:sp>
      <p:pic>
        <p:nvPicPr>
          <p:cNvPr id="22" name="Picture 21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78992"/>
            <a:ext cx="11009376" cy="40782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285232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285232"/>
            <a:ext cx="260604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5358384"/>
            <a:ext cx="2313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① 数据准备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742432"/>
            <a:ext cx="2313432" cy="49377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数据清单 + patient-level 5-fold 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5285232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5285232"/>
            <a:ext cx="260604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83864" y="5358384"/>
            <a:ext cx="2313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② M0–M4 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5742432"/>
            <a:ext cx="2313432" cy="49377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表格/图像/融合基线对照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5285232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5285232"/>
            <a:ext cx="260604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5358384"/>
            <a:ext cx="2313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③ M5 图学习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5742432"/>
            <a:ext cx="2313432" cy="49377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heterogeneous graph 关系建模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5285232"/>
            <a:ext cx="26060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40" y="5285232"/>
            <a:ext cx="260604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3144" y="5358384"/>
            <a:ext cx="2313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④ 评估/公平性/PAD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5742432"/>
            <a:ext cx="2313432" cy="49377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指标评估 + fairness + Demo</a:t>
            </a:r>
          </a:p>
        </p:txBody>
      </p:sp>
      <p:pic>
        <p:nvPicPr>
          <p:cNvPr id="22" name="Picture 21" descr="校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基线体系 M0–M4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1155680" cy="397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模态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对照意义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060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M0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LightGBM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元数据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表格强基线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060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EfficientNet-B0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图像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CNN 路线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060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MONET Feature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图像基础表征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医学图文预训练特征基线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060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Swin-Tiny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图像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结构对照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060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Multimodal Fusion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图像 + 元数据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门控多模态融合上界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285232"/>
            <a:ext cx="11155680" cy="38404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8000"/>
              </a:lnSpc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对照逻辑：元数据（M0）→ 单模态图像（M1–M3）→ 常规多模态融合（M4）</a:t>
            </a:r>
          </a:p>
        </p:txBody>
      </p:sp>
      <p:pic>
        <p:nvPicPr>
          <p:cNvPr id="7" name="Picture 6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M5 LGKE-GNN 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heterogeneous graph 多模态建模（显式利用 patient–lesion–attribute 关系）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432511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4325112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124712"/>
            <a:ext cx="4178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机制与设计要点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508760"/>
            <a:ext cx="4178808" cy="27705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节点：病灶样本、患者上下文、属性、visual</a:t>
            </a:r>
            <a:r>
              <a:rPr dirty="0"/>
              <a:t> </a:t>
            </a:r>
            <a:r>
              <a:rPr dirty="0" err="1"/>
              <a:t>neighbors、知识原型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边：同患者、同属性、visual</a:t>
            </a:r>
            <a:r>
              <a:rPr dirty="0"/>
              <a:t> </a:t>
            </a:r>
            <a:r>
              <a:rPr dirty="0" err="1"/>
              <a:t>kNN、原型关联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关系特异消息传递</a:t>
            </a:r>
            <a:r>
              <a:rPr dirty="0"/>
              <a:t> + </a:t>
            </a:r>
            <a:r>
              <a:rPr dirty="0" err="1"/>
              <a:t>知识原型注意力，聚合局部与全局信息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直觉：同一患者多病灶与相似外观不再被当作独立样本</a:t>
            </a:r>
            <a:endParaRPr dirty="0"/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与</a:t>
            </a:r>
            <a:r>
              <a:rPr dirty="0"/>
              <a:t> M4 </a:t>
            </a:r>
            <a:r>
              <a:rPr dirty="0" err="1"/>
              <a:t>区别：不仅拼接单样本特征，还建模跨样本关系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974336" y="1051560"/>
            <a:ext cx="7103364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5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124712"/>
            <a:ext cx="7103364" cy="4654296"/>
          </a:xfrm>
          <a:prstGeom prst="rect">
            <a:avLst/>
          </a:prstGeom>
        </p:spPr>
      </p:pic>
      <p:pic>
        <p:nvPicPr>
          <p:cNvPr id="11" name="Picture 10" descr="校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主实验结果（完整对比）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patient-level 5-fold CV · 主指标 pAUC@TPR≥80%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708660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6949440" cy="4617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pAUC(高敏)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AUPRC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AUROC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Sens.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Spec.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563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M0 LightGBM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73.03%±7.37%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6.67%±2.70%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93.24%±1.68%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91.75%±3.18%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76.77%±6.04%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563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M1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54.08%±7.31%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4.41%±2.02%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87.34%±1.85%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85.14%±15.15%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65.37%±17.56%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563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M2 MONET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58.92%±8.37%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4.09%±1.92%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88.26%±2.65%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79.42%±6.67%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80.89%±4.38%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563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M3 Swin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64.18%±6.53%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4.71%±1.24%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90.11%±2.32%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84.86%±7.43%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77.56%±8.62%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563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M4 Fusion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73.93%±7.41%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7.65%±4.87%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93.28%±1.88%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86.78%±5.52%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84.45%±9.53%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2563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1">
                          <a:solidFill>
                            <a:srgbClr val="1E3A5F"/>
                          </a:solidFill>
                          <a:latin typeface="微软雅黑"/>
                        </a:defRPr>
                      </a:pPr>
                      <a:r>
                        <a:t>M5 LGKE-GNN</a:t>
                      </a:r>
                    </a:p>
                  </a:txBody>
                  <a:tcPr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1">
                          <a:solidFill>
                            <a:srgbClr val="1E3A5F"/>
                          </a:solidFill>
                          <a:latin typeface="Arial"/>
                        </a:defRPr>
                      </a:pPr>
                      <a:r>
                        <a:t>77.94%±7.48%</a:t>
                      </a:r>
                    </a:p>
                  </a:txBody>
                  <a:tcPr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1">
                          <a:solidFill>
                            <a:srgbClr val="1E3A5F"/>
                          </a:solidFill>
                          <a:latin typeface="Arial"/>
                        </a:defRPr>
                      </a:pPr>
                      <a:r>
                        <a:t>7.08%±3.97%</a:t>
                      </a:r>
                    </a:p>
                  </a:txBody>
                  <a:tcPr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1">
                          <a:solidFill>
                            <a:srgbClr val="1E3A5F"/>
                          </a:solidFill>
                          <a:latin typeface="Arial"/>
                        </a:defRPr>
                      </a:pPr>
                      <a:r>
                        <a:t>94.15%±1.6%</a:t>
                      </a:r>
                    </a:p>
                  </a:txBody>
                  <a:tcPr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1">
                          <a:solidFill>
                            <a:srgbClr val="1E3A5F"/>
                          </a:solidFill>
                          <a:latin typeface="Arial"/>
                        </a:defRPr>
                      </a:pPr>
                      <a:r>
                        <a:t>90.88%</a:t>
                      </a:r>
                    </a:p>
                  </a:txBody>
                  <a:tcPr anchor="ctr"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100" b="1">
                          <a:solidFill>
                            <a:srgbClr val="1E3A5F"/>
                          </a:solidFill>
                          <a:latin typeface="Arial"/>
                        </a:defRPr>
                      </a:pPr>
                      <a:r>
                        <a:t>81.29%</a:t>
                      </a:r>
                    </a:p>
                  </a:txBody>
                  <a:tcPr anchor="ctr">
                    <a:solidFill>
                      <a:srgbClr val="E8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35240" y="105156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in_results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124712"/>
            <a:ext cx="3877056" cy="21854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3456432"/>
            <a:ext cx="40233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3456432"/>
            <a:ext cx="402336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81544" y="3529584"/>
            <a:ext cx="3730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结果解读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3913631"/>
            <a:ext cx="3730752" cy="12131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M5 在 pAUC 上最高，相对 M4 提升约 4.01 个百分点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M4 的 AUPRC 仍略高，说明门控融合在极端不平衡下仍强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M0 Sens. 最高（91.75%），但 Spec. 仅 76.77%，不能只追召回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五折间波动仍较大，结论保持谨慎</a:t>
            </a:r>
          </a:p>
        </p:txBody>
      </p:sp>
      <p:pic>
        <p:nvPicPr>
          <p:cNvPr id="13" name="Picture 12" descr="校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公平性分析（按性别/年龄/解剖部位）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4406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124712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评估维度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508760"/>
            <a:ext cx="5148072" cy="12882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分组：sex、age group、anatom site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指标：AUROC、sensitivity、FNR 与 calibration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信号示例：male FNR 6.3% vs female 16.2%；head/neck Sens. 98.5% 但 AUROC 85.5%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Demo 看板支持按子群交互查看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4406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124712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解释边界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08760"/>
            <a:ext cx="5148072" cy="12882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样本量极少子群（UNK、&lt;40）波动大，不作强结论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阳性样本不足时仅报告描述性风险信号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公平性需要结合域迁移与阈值迁移共同判断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因此报告“边界条件”，而非绝对偏见判定</a:t>
            </a:r>
          </a:p>
        </p:txBody>
      </p:sp>
      <p:pic>
        <p:nvPicPr>
          <p:cNvPr id="12" name="Picture 11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PAD 外部验证与图消融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420624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124712"/>
            <a:ext cx="39136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PAD 跨域结论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508760"/>
            <a:ext cx="3913631" cy="12131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ISIC→PAD zero-shot：AUROC 47.4%±26.6%，BACC 41.3%±13.5%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ISIC 验证集阈值/校准不能直接迁移至 PAD（域偏移 + 校准偏移）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PAD 目标域 fine-tune：AUROC 约 85.5%，论文 BACC 81.3%±2.5%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按 Fitzpatrick 肤色分型补充外部域公平性分析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3756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337560"/>
            <a:ext cx="420624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3410712"/>
            <a:ext cx="39136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图结构消融解读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794759"/>
            <a:ext cx="3913631" cy="98755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visual kNN 边对降低 FNR 贡献最明显（8.8% vs lesion-only 9.6%）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单独 attribute/patient 边 pAUC 不稳定（58.5% / 65.9%）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完整 M5（pAUC 77.9%）优于 lesion-only（74.6%）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051560"/>
            <a:ext cx="67665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ad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124712"/>
            <a:ext cx="6620256" cy="2286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892040" y="3520440"/>
            <a:ext cx="67665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raph_ablation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3593592"/>
            <a:ext cx="6620256" cy="2093976"/>
          </a:xfrm>
          <a:prstGeom prst="rect">
            <a:avLst/>
          </a:prstGeom>
        </p:spPr>
      </p:pic>
      <p:pic>
        <p:nvPicPr>
          <p:cNvPr id="16" name="Picture 15" descr="校徽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工程交付与团队分工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3035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530352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124712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工程交付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508760"/>
            <a:ext cx="5010912" cy="12882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run_all.sh：clone 后一键复现主流程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run_demo.sh：启动 Streamlit 四 Tab 看板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自动化测试 14 项，覆盖克隆就绪与核心脚本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README 完整说明环境、脚本与结果路径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57150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143000"/>
          <a:ext cx="5486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学号姓名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986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2354100 郝哲逸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数据管线、图构建、M0–M4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986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2354356 林青滢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M5 LGKE-GNN、论文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986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2353833 高文昊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评估、公平性、图表</a:t>
                      </a:r>
                    </a:p>
                  </a:txBody>
                  <a:tcPr anchor="ctr">
                    <a:solidFill>
                      <a:srgbClr val="FA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986"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2353594 姜政言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8000"/>
                        </a:lnSpc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工程交付、Demo、PPT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99669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微软雅黑"/>
              </a:defRPr>
            </a:pPr>
            <a:r>
              <a:t>结论与局限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32004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54406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170432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三句结论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554480"/>
            <a:ext cx="5148072" cy="10439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图结构模型 LGKE-GNN 在 patient-level 5-fold CV 的高灵敏度 pAUC/AUROC 上优于主要基线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图结构显式建模患者-病灶-近邻关系，对高灵敏度筛查有增益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PAD 目标域 fine-tune 可恢复性能，但 zero-shot 跨域仍脆弱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406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40680" cy="402336"/>
          </a:xfrm>
          <a:prstGeom prst="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170432"/>
            <a:ext cx="5148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局限与声明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54480"/>
            <a:ext cx="5148072" cy="128828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仅课程研究，不可用于临床诊断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极端不平衡下需多指标联合判断，避免单指标偏差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阳性样本过少子群与跨设备迁移结论需谨慎解释</a:t>
            </a:r>
          </a:p>
          <a:p>
            <a:pPr algn="l">
              <a:lnSpc>
                <a:spcPct val="148000"/>
              </a:lnSpc>
              <a:spcAft>
                <a:spcPts val="8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欢迎老师提问</a:t>
            </a:r>
          </a:p>
        </p:txBody>
      </p:sp>
      <p:pic>
        <p:nvPicPr>
          <p:cNvPr id="12" name="Picture 11" descr="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051560" cy="10515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8912" y="5961888"/>
            <a:ext cx="112471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6272784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数据分析与数据挖掘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272784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884</Words>
  <Application>Microsoft Macintosh PowerPoint</Application>
  <PresentationFormat>宽屏</PresentationFormat>
  <Paragraphs>202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Jiang</cp:lastModifiedBy>
  <cp:revision>5</cp:revision>
  <dcterms:created xsi:type="dcterms:W3CDTF">2013-01-27T09:14:16Z</dcterms:created>
  <dcterms:modified xsi:type="dcterms:W3CDTF">2026-06-15T04:05:36Z</dcterms:modified>
  <cp:category/>
</cp:coreProperties>
</file>